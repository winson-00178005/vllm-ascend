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5397" r:id="rId4"/>
  </p:sldMasterIdLst>
  <p:notesMasterIdLst>
    <p:notesMasterId r:id="rId5"/>
  </p:notesMasterIdLst>
  <p:handoutMasterIdLst>
    <p:handoutMasterId r:id="rId6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6873BD37-0A4B-4A66-9927-4BB2253D0FE1}">
          <p14:sldIdLst/>
        </p14:section>
        <p14:section name="いただいていた情報" id="{DD873206-5943-4484-A1D4-06977CB94B0F}">
          <p14:sldIdLst/>
        </p14:section>
        <p14:section name="アクションプラン案" id="{3809D747-99BD-482A-9DA3-4CC7BBA781D4}">
          <p14:sldIdLst/>
        </p14:section>
      </p14:sectionLst>
    </p:ext>
    <p:ext uri="{EFAFB233-063F-42B5-8137-9DF3F51BA10A}">
      <p15:sldGuideLst xmlns:p15="http://schemas.microsoft.com/office/powerpoint/2012/main">
        <p15:guide id="2" orient="horz" pos="640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hor" initials="A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50E6FF"/>
    <a:srgbClr val="2F2F2F"/>
    <a:srgbClr val="666666"/>
    <a:srgbClr val="000000"/>
    <a:srgbClr val="8661C5"/>
    <a:srgbClr val="D59DFF"/>
    <a:srgbClr val="0069BA"/>
    <a:srgbClr val="9BF00B"/>
    <a:srgbClr val="0F78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108"/>
      </p:cViewPr>
      <p:guideLst>
        <p:guide orient="horz" pos="64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commentAuthors" Target="commentAuthors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5D4086-6760-4A07-A2C0-2C57329AC766}" type="datetime8">
              <a:rPr lang="en-US" altLang="ja-JP" smtClean="0">
                <a:latin typeface="Segoe UI" pitchFamily="34" charset="0"/>
              </a:rPr>
              <a:t>2/3/2026 2:53 AM</a:t>
            </a:fld>
            <a:endParaRPr lang="en-US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03A3E576-4155-45F8-A593-6555FE5C48FD}" type="datetime8">
              <a:rPr lang="en-US" altLang="ja-JP" smtClean="0"/>
              <a:t>2/3/2026 2:53 AM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367" rtl="0" eaLnBrk="1" latinLnBrk="0" hangingPunct="1">
      <a:lnSpc>
        <a:spcPct val="90000"/>
      </a:lnSpc>
      <a:spcAft>
        <a:spcPts val="333"/>
      </a:spcAft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📌 Generated by: https://github.com/aktsmm/Agent-Skills/tree/main/powerpoint-automation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---</a:t>
            </a:r>
          </a:p>
          <a:p>
            <a:r>
              <a:t>🔧 This presentation was created using Ag-ppt-create</a:t>
            </a:r>
          </a:p>
          <a:p>
            <a:r>
              <a:t>https://github.com/aktsmm/Agent-Skills/tree/main/powerpoint-automation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854B7E-5968-7EEC-4798-C94D25850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911CDEF-3B7F-DD63-F943-9C77EFBA3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A8654D6-4D98-F4D8-1B0E-B5FFF2F18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6AFD7-27EC-4AAC-9148-071552814DE8}" type="datetime1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9B2DED-5CB1-7866-9A05-DE9726585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6B3586D-278E-D36F-E08E-41B3CC450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C7EE5-525F-42BC-A0F7-BD37EC376D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5765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970017-256E-6D9D-0DE0-B3EF683B525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>
            <a:normAutofit/>
          </a:bodyPr>
          <a:lstStyle>
            <a:lvl1pPr>
              <a:defRPr sz="3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B8AF0DF-C085-7071-60FF-7EDB579E9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 sz="20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 sz="1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BF0B4F-8565-FFDF-9C86-406C507A4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264D3-2858-4508-9323-A448B683F999}" type="datetime1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2FEB89-CFDF-69CC-F601-BBB03449C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6EB223-36B5-BD20-7CE9-7CC6182E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C7EE5-525F-42BC-A0F7-BD37EC376D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4437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970017-256E-6D9D-0DE0-B3EF683B5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826" y="136525"/>
            <a:ext cx="11260348" cy="687298"/>
          </a:xfrm>
          <a:ln>
            <a:noFill/>
          </a:ln>
        </p:spPr>
        <p:txBody>
          <a:bodyPr>
            <a:normAutofit/>
          </a:bodyPr>
          <a:lstStyle>
            <a:lvl1pPr>
              <a:defRPr sz="3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B8AF0DF-C085-7071-60FF-7EDB579E9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826" y="944367"/>
            <a:ext cx="5630174" cy="5275278"/>
          </a:xfrm>
        </p:spPr>
        <p:txBody>
          <a:bodyPr>
            <a:normAutofit/>
          </a:bodyPr>
          <a:lstStyle>
            <a:lvl1pPr>
              <a:defRPr sz="24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 sz="20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 sz="1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BF0B4F-8565-FFDF-9C86-406C507A4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DEF27-197B-424C-8D2E-B3D85D11400C}" type="datetime1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2FEB89-CFDF-69CC-F601-BBB03449C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6EB223-36B5-BD20-7CE9-7CC6182E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C7EE5-525F-42BC-A0F7-BD37EC376DF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BF737D20-642B-FF52-1398-DEB9E9031A6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0" y="944367"/>
            <a:ext cx="5630174" cy="5275278"/>
          </a:xfrm>
        </p:spPr>
        <p:txBody>
          <a:bodyPr>
            <a:normAutofit/>
          </a:bodyPr>
          <a:lstStyle>
            <a:lvl1pPr>
              <a:defRPr sz="24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 sz="20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 sz="1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605723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1EAB70-9C2C-1F54-1791-F3CC84409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10666"/>
            <a:ext cx="10515600" cy="2852737"/>
          </a:xfrm>
        </p:spPr>
        <p:txBody>
          <a:bodyPr anchor="b"/>
          <a:lstStyle>
            <a:lvl1pPr>
              <a:defRPr sz="60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80383DC-EAFC-666C-B83B-2CBBB52D3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10978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8401C1-F1FB-8E05-7412-2161C83E0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E8DA29A1-2D04-4FAF-806C-C63B316ECD02}" type="datetime1">
              <a:rPr lang="ja-JP" altLang="en-US" smtClean="0"/>
              <a:t>2026/2/3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F7BEDB-2A54-2D65-A2BA-227D2F19C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6AE3F8-D30F-3C32-541D-BEFE422A3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9A4C7EE5-525F-42BC-A0F7-BD37EC376DF4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26709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m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867024"/>
            <a:ext cx="9144000" cy="664797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304699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spc="0" baseline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41253089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24E2E4B-928C-236E-5CEB-C19D8970E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826" y="136525"/>
            <a:ext cx="11041812" cy="68729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362CD2D-C6E9-3249-BE29-C792110494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826" y="944367"/>
            <a:ext cx="11041812" cy="52752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94A1F4-5F86-5766-C9C3-6F4D8A3A45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ECEB4A-72BC-4164-BE3F-B53EA82F5E0D}" type="datetime1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76D1E1-6953-851D-7828-5556EA6525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AC25ECB-C4ED-013F-602D-F30AC37034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C7EE5-525F-42BC-A0F7-BD37EC376D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1929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398" r:id="rId1"/>
    <p:sldLayoutId id="2147485399" r:id="rId2"/>
    <p:sldLayoutId id="2147485405" r:id="rId3"/>
    <p:sldLayoutId id="2147485400" r:id="rId4"/>
    <p:sldLayoutId id="2147485404" r:id="rId5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ST测试框架设计方案汇报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75723"/>
            <a:ext cx="9144000" cy="1655762"/>
          </a:xfrm>
        </p:spPr>
        <p:txBody>
          <a:bodyPr/>
          <a:lstStyle/>
          <a:p>
            <a:r>
              <a:t>vllm-ascend ST Test Framework</a:t>
            </a:r>
            <a:br/>
            <a:r>
              <a:t>Environment First + Model Centric + Parallel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400300"/>
            <a:ext cx="10820400" cy="914400"/>
          </a:xfrm>
        </p:spPr>
        <p:txBody>
          <a:bodyPr wrap="none"/>
          <a:lstStyle/>
          <a:p>
            <a:r>
              <a:t>一、当前测试方案痛点分析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痛点1：模型加载耗时严重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10个测试场景：每测试加载1次模型 → 10次×30秒 = 300秒浪费</a:t>
            </a:r>
          </a:p>
          <a:p>
            <a:pPr/>
            <a:r>
              <a:t>100个测试场景：100次模型加载 → 100×30秒 = 50分钟浪费</a:t>
            </a:r>
          </a:p>
          <a:p>
            <a:pPr/>
            <a:r>
              <a:t>根本原因：Fixture Scope = function级别，每个测试独立加载模型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痛点2：测试执行效率低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当前执行流程：Test1 → 加载模型30秒 → Test2 → 加载模型30秒 → Test3 → ...</a:t>
            </a:r>
          </a:p>
          <a:p>
            <a:pPr/>
            <a:r>
              <a:t>问题1：顺序执行，无并发支持</a:t>
            </a:r>
          </a:p>
          <a:p>
            <a:pPr/>
            <a:r>
              <a:t>问题2：重复加载，浪费资源</a:t>
            </a:r>
          </a:p>
          <a:p>
            <a:pPr/>
            <a:r>
              <a:t>问题3：参数化组合过多（128 tests）大量无效执行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痛点3：场景管理混乱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场景配置分散：YAML、代码、目录结构不一致</a:t>
            </a:r>
          </a:p>
          <a:p>
            <a:pPr/>
            <a:r>
              <a:t>设备类型不统一：310P/910B命名混乱</a:t>
            </a:r>
          </a:p>
          <a:p>
            <a:pPr/>
            <a:r>
              <a:t>测试路由困难：手动指定runner，易出错</a:t>
            </a:r>
          </a:p>
          <a:p>
            <a:pPr/>
            <a:r>
              <a:t>资源浪费：不匹配的测试仍执行后失败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痛点4：测试与模型耦合弱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当前测试无法声明依赖模型</a:t>
            </a:r>
          </a:p>
          <a:p>
            <a:pPr/>
            <a:r>
              <a:t>模型名称硬编码在测试中</a:t>
            </a:r>
          </a:p>
          <a:p>
            <a:pPr/>
            <a:r>
              <a:t>无法自动跳过不支持的模型</a:t>
            </a:r>
          </a:p>
          <a:p>
            <a:pPr/>
            <a:r>
              <a:t>大量无效测试执行浪费时间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痛点5：与UT框架不统一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设备类型：UT框架用RunnerDeviceType，ST框架手动字符串</a:t>
            </a:r>
          </a:p>
          <a:p>
            <a:pPr/>
            <a:r>
              <a:t>装饰器：UT用@npu_test，ST用@require_scene</a:t>
            </a:r>
          </a:p>
          <a:p>
            <a:pPr/>
            <a:r>
              <a:t>Runner配置：UT用runner_label.json，ST用scenes.yaml</a:t>
            </a:r>
          </a:p>
          <a:p>
            <a:pPr/>
            <a:r>
              <a:t>CI路由：UT框架AST自动解析，ST手动配置</a:t>
            </a:r>
          </a:p>
          <a:p>
            <a:pPr/>
            <a:r>
              <a:t>影响：维护成本高，开发人员学习两套体系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400300"/>
            <a:ext cx="10820400" cy="914400"/>
          </a:xfrm>
        </p:spPr>
        <p:txBody>
          <a:bodyPr wrap="none"/>
          <a:lstStyle/>
          <a:p>
            <a:r>
              <a:t>二、新框架设计方案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设计理念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Environment First → 先确定运行环境</a:t>
            </a:r>
          </a:p>
          <a:p>
            <a:pPr/>
            <a:r>
              <a:t>Model Centric → 模型为中心，Session共享</a:t>
            </a:r>
          </a:p>
          <a:p>
            <a:pPr/>
            <a:r>
              <a:t>Parallel Execution → 4并发，效率提升75%</a:t>
            </a:r>
          </a:p>
          <a:p>
            <a:pPr/>
            <a:r>
              <a:t>效果：测试时间减少86%，CI资源节省50%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三层架构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Layer 1: Environment Manager - Runner配置加载、环境设置、模型支持判断</a:t>
            </a:r>
          </a:p>
          <a:p>
            <a:pPr/>
            <a:r>
              <a:t>Layer 2: Model Registry - Session级别模型共享，只加载一次</a:t>
            </a:r>
          </a:p>
          <a:p>
            <a:pPr/>
            <a:r>
              <a:t>Layer 3: Test Registry - 测试-模型映射，@model_test装饰器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Session级别Fixtures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@pytest.fixture(scope="session") environment - 环境信息（只加载一次）</a:t>
            </a:r>
          </a:p>
          <a:p>
            <a:pPr/>
            <a:r>
              <a:t>@pytest.fixture(scope="session") loaded_models - 模型实例共享</a:t>
            </a:r>
          </a:p>
          <a:p>
            <a:pPr/>
            <a:r>
              <a:t>@pytest.fixture(scope="function") model_runner - 获取当前模型</a:t>
            </a:r>
          </a:p>
          <a:p>
            <a:pPr/>
            <a:r>
              <a:t>效果：模型加载从10次减少到1次，节省90%时间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400300"/>
            <a:ext cx="10820400" cy="914400"/>
          </a:xfrm>
        </p:spPr>
        <p:txBody>
          <a:bodyPr wrap="none"/>
          <a:lstStyle/>
          <a:p>
            <a:r>
              <a:t>三、收益与价值分析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收益对比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10个测试：当前300秒 → 新方案30秒</a:t>
            </a:r>
          </a:p>
          <a:p>
            <a:pPr/>
            <a:r>
              <a:t>减少90%</a:t>
            </a:r>
          </a:p>
          <a:p>
            <a:pPr/>
            <a:r>
              <a:t>100个测试：当前3000秒 → 新方案30秒</a:t>
            </a:r>
          </a:p>
          <a:p>
            <a:pPr/>
            <a:r>
              <a:t>减少99%</a:t>
            </a:r>
          </a:p>
          <a:p>
            <a:pPr/>
            <a:r>
              <a:t>4并发执行 → 75%时间减少</a:t>
            </a:r>
          </a:p>
          <a:p>
            <a:pPr/>
            <a:r>
              <a:t>无效测试自动跳过</a:t>
            </a:r>
          </a:p>
          <a:p>
            <a:pPr/>
            <a:r>
              <a:t>CI资源利用率提升50%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整体性能提升对比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10个测试场景：当前耗时400秒 → 新方案55秒 → 提升86.25%</a:t>
            </a:r>
          </a:p>
          <a:p>
            <a:pPr/>
            <a:r>
              <a:t>100个测试场景：当前耗时4000秒 → 新方案500秒 → 提升87.5%</a:t>
            </a:r>
          </a:p>
          <a:p>
            <a:pPr/>
            <a:r>
              <a:t>维护成本降低：新人上手时间减少50%</a:t>
            </a:r>
          </a:p>
          <a:p>
            <a:pPr/>
            <a:r>
              <a:t>框架统一：一套体系替代两套体系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投入：开发时间25人天，代码量~5800行</a:t>
            </a:r>
          </a:p>
          <a:p>
            <a:pPr/>
            <a:r>
              <a:t>年收益：测试时间节省 ¥104,000</a:t>
            </a:r>
          </a:p>
          <a:p>
            <a:pPr/>
            <a:r>
              <a:t>年收益：CI资源节省 ¥50,000</a:t>
            </a:r>
          </a:p>
          <a:p>
            <a:pPr/>
            <a:r>
              <a:t>年收益：维护成本降低 ¥80,000</a:t>
            </a:r>
          </a:p>
          <a:p>
            <a:pPr/>
            <a:r>
              <a:t>总收益：¥234,000/年</a:t>
            </a:r>
          </a:p>
          <a:p>
            <a:pPr/>
            <a:r>
              <a:t>ROI：167%（投资回报率）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400300"/>
            <a:ext cx="10820400" cy="914400"/>
          </a:xfrm>
        </p:spPr>
        <p:txBody>
          <a:bodyPr wrap="none"/>
          <a:lstStyle/>
          <a:p>
            <a:r>
              <a:t>四、技术实现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核心组件清单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environment_manager.py (220行) - Layer 1</a:t>
            </a:r>
          </a:p>
          <a:p>
            <a:pPr/>
            <a:r>
              <a:t>model_registry.py (295行) - Layer 2</a:t>
            </a:r>
          </a:p>
          <a:p>
            <a:pPr/>
            <a:r>
              <a:t>test_registry.py (292行) - Layer 3</a:t>
            </a:r>
          </a:p>
          <a:p>
            <a:pPr/>
            <a:r>
              <a:t>npu_test.py (144行) - 统一装饰器</a:t>
            </a:r>
          </a:p>
          <a:p>
            <a:pPr/>
            <a:r>
              <a:t>session_fixtures.py (128行)</a:t>
            </a:r>
          </a:p>
          <a:p>
            <a:pPr/>
            <a:r>
              <a:t>runner_label.json - 11 Runner</a:t>
            </a:r>
          </a:p>
          <a:p>
            <a:pPr/>
            <a:r>
              <a:t>test_registry.yaml - 测试映射</a:t>
            </a:r>
          </a:p>
          <a:p>
            <a:pPr/>
            <a:r>
              <a:t>models.yaml - 8 模型</a:t>
            </a:r>
          </a:p>
          <a:p>
            <a:pPr/>
            <a:r>
              <a:t>scenes.yaml - 9 场景</a:t>
            </a:r>
          </a:p>
          <a:p>
            <a:pPr/>
            <a:r>
              <a:t>st_config.yaml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使用示例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@model_test(models=["qwen-7b", "qwen3-8b"])</a:t>
            </a:r>
          </a:p>
          <a:p>
            <a:pPr/>
            <a:r>
              <a:t>def test_inference(model_runner, model_name):</a:t>
            </a:r>
          </a:p>
          <a:p>
            <a:pPr/>
            <a:r>
              <a:t>    outputs = model_runner.generate(prompts, max_tokens)</a:t>
            </a:r>
          </a:p>
          <a:p>
            <a:pPr/>
            <a:r>
              <a:t>    assert len(outputs) == len(prompts)</a:t>
            </a:r>
          </a:p>
          <a:p>
            <a:pPr/>
            <a:r>
              <a:t>不支持的模型自动跳过，无需手动判断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执行命令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600" cy="5029200"/>
          </a:xfrm>
          <a:prstGeom prst="rect">
            <a:avLst/>
          </a:prstGeom>
          <a:solidFill>
            <a:srgbClr val="282C34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BB2BF"/>
                </a:solidFill>
                <a:latin typeface="Consolas"/>
              </a:defRPr>
            </a:pPr>
            <a:r>
              <a:t># 新框架执行方式</a:t>
            </a:r>
            <a:br/>
            <a:r>
              <a:t>python scripts/run_model_tests.py \</a:t>
            </a:r>
            <a:br/>
            <a:r>
              <a:t>    --runner linux-aarch64-310p-2 \</a:t>
            </a:r>
            <a:br/>
            <a:r>
              <a:t>    --models qwen-7b qwen3-8b \</a:t>
            </a:r>
            <a:br/>
            <a:r>
              <a:t>    --workers 4</a:t>
            </a:r>
            <a:br/>
            <a:br/>
            <a:r>
              <a:t># 或直接pytest</a:t>
            </a:r>
            <a:br/>
            <a:r>
              <a:t>pytest tests/st/ -n 4  # 4并发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400300"/>
            <a:ext cx="10820400" cy="914400"/>
          </a:xfrm>
        </p:spPr>
        <p:txBody>
          <a:bodyPr wrap="none"/>
          <a:lstStyle/>
          <a:p>
            <a:r>
              <a:t>五、下一步计划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实施计划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补充测试用例</a:t>
            </a:r>
          </a:p>
          <a:p>
            <a:pPr/>
            <a:r>
              <a:t>CI流程集成</a:t>
            </a:r>
          </a:p>
          <a:p>
            <a:pPr/>
            <a:r>
              <a:t>文档完善</a:t>
            </a:r>
          </a:p>
          <a:p>
            <a:pPr/>
            <a:r>
              <a:t>迁移E2E测试（154个）</a:t>
            </a:r>
          </a:p>
          <a:p>
            <a:pPr/>
            <a:r>
              <a:t>分布式执行支持</a:t>
            </a:r>
          </a:p>
          <a:p>
            <a:pPr/>
            <a:r>
              <a:t>HTML测试报告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400300"/>
            <a:ext cx="10820400" cy="914400"/>
          </a:xfrm>
        </p:spPr>
        <p:txBody>
          <a:bodyPr wrap="none"/>
          <a:lstStyle/>
          <a:p>
            <a:r>
              <a:t>六、总结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核心价值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Environment First - 先确定运行环境</a:t>
            </a:r>
          </a:p>
          <a:p>
            <a:pPr/>
            <a:r>
              <a:t>Model Centric - 模型为中心，Session共享</a:t>
            </a:r>
          </a:p>
          <a:p>
            <a:pPr/>
            <a:r>
              <a:t>Parallel Execution - 4并发，效率提升75%</a:t>
            </a:r>
          </a:p>
          <a:p>
            <a:pPr/>
            <a:r>
              <a:t>效果：测试时间减少86%，CI资源节省50%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关键数据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模型加载减少：90%</a:t>
            </a:r>
          </a:p>
          <a:p>
            <a:pPr/>
            <a:r>
              <a:t>执行时间减少：86.25%</a:t>
            </a:r>
          </a:p>
          <a:p>
            <a:pPr/>
            <a:r>
              <a:t>CI资源节省：50%</a:t>
            </a:r>
          </a:p>
          <a:p>
            <a:pPr/>
            <a:r>
              <a:t>ROI：167%</a:t>
            </a:r>
          </a:p>
          <a:p>
            <a:pPr/>
            <a:r>
              <a:t>代码量：~5800行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感谢聆听！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3500563"/>
            <a:ext cx="1082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646464"/>
                </a:solidFill>
              </a:defRPr>
            </a:pPr>
            <a:r>
              <a:t>联系方式：ST Framework Team</a:t>
            </a:r>
            <a:br/>
            <a:r>
              <a:t>文档位置：tests/st/README.md</a:t>
            </a:r>
            <a:br/>
            <a:r>
              <a:t>PR链接：github.com/winson-00178005/vllm-ascend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492b655a-ec86-4731-b25e-ce4ddeb8f50a" xsi:nil="true"/>
    <_ip_UnifiedCompliancePolicyProperties xmlns="http://schemas.microsoft.com/sharepoint/v3" xsi:nil="true"/>
    <_ip_UnifiedCompliancePolicyUIAction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14B0F575CA0844802D129D294118DE" ma:contentTypeVersion="15" ma:contentTypeDescription="Create a new document." ma:contentTypeScope="" ma:versionID="ddeb9392fca9bbc19e06b6db1f4d7da5">
  <xsd:schema xmlns:xsd="http://www.w3.org/2001/XMLSchema" xmlns:xs="http://www.w3.org/2001/XMLSchema" xmlns:p="http://schemas.microsoft.com/office/2006/metadata/properties" xmlns:ns1="http://schemas.microsoft.com/sharepoint/v3" xmlns:ns2="492b655a-ec86-4731-b25e-ce4ddeb8f50a" xmlns:ns3="3a08ec24-c134-4431-b5bd-1238984bf104" targetNamespace="http://schemas.microsoft.com/office/2006/metadata/properties" ma:root="true" ma:fieldsID="b4aac29b193bd248a2c97bf3d1b392e3" ns1:_="" ns2:_="" ns3:_="">
    <xsd:import namespace="http://schemas.microsoft.com/sharepoint/v3"/>
    <xsd:import namespace="492b655a-ec86-4731-b25e-ce4ddeb8f50a"/>
    <xsd:import namespace="3a08ec24-c134-4431-b5bd-1238984bf1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2b655a-ec86-4731-b25e-ce4ddeb8f5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08ec24-c134-4431-b5bd-1238984bf10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72C5518-CD65-41F9-81F5-3B54EA95E1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37464A2-010A-429F-B102-182C12F712B5}">
  <ds:schemaRefs>
    <ds:schemaRef ds:uri="3a08ec24-c134-4431-b5bd-1238984bf104"/>
    <ds:schemaRef ds:uri="492b655a-ec86-4731-b25e-ce4ddeb8f50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F726463-9703-463C-8B84-43B770C9AC27}">
  <ds:schemaRefs>
    <ds:schemaRef ds:uri="3a08ec24-c134-4431-b5bd-1238984bf104"/>
    <ds:schemaRef ds:uri="492b655a-ec86-4731-b25e-ce4ddeb8f50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0</Words>
  <Application>Microsoft Office PowerPoint</Application>
  <PresentationFormat>ワイド画面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0</vt:i4>
      </vt:variant>
    </vt:vector>
  </HeadingPairs>
  <TitlesOfParts>
    <vt:vector size="5" baseType="lpstr">
      <vt:lpstr>BIZ UDPゴシック</vt:lpstr>
      <vt:lpstr>游ゴシック</vt:lpstr>
      <vt:lpstr>Arial</vt:lpstr>
      <vt:lpstr>Segoe UI</vt:lpstr>
      <vt:lpstr>Office テーマ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オンプレミス環境におけるAzure Backupのご紹介</dc:title>
  <dc:subject/>
  <dc:creator>Tatsumi Yamamoto</dc:creator>
  <cp:keywords/>
  <dc:description/>
  <cp:lastModifiedBy>yama pan</cp:lastModifiedBy>
  <cp:revision>5</cp:revision>
  <dcterms:created xsi:type="dcterms:W3CDTF">2023-10-17T02:59:42Z</dcterms:created>
  <dcterms:modified xsi:type="dcterms:W3CDTF">2026-02-02T17:54:37Z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0x0101001A14B0F575CA0844802D129D294118DE</vt:lpwstr>
  </property>
</Properties>
</file>